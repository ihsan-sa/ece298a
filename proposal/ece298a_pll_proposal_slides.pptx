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1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ECE298A TERM PROJECT PROPOSAL · IHSAN SALARI, DHYEY BHATT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Charge-Pump PLL on Tiny Tapeout GF180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28800"/>
            <a:ext cx="4846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type-II charge-pump PLL: PFD → charge pump → loop filter → VCO, closed by a programmable divider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Multiplies a 5–12.5 MHz reference by N = 1–5 (total ratio 8N = 8–40) onto a 50–200 MHz VCO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Tiny Tapeout GF180 analog tile — Vctrl and bias share the 2 analog pins (ua[0], ua[1])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 the full mixed-signal flow: RTL + CocoTB, ngspice corners, DRC/LVS layout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623560" y="1417320"/>
            <a:ext cx="6080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23560" y="17465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 clk, 5–12.5 MHz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9659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>
            <a:solidFill>
              <a:srgbClr val="141A45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724144" y="2039112"/>
            <a:ext cx="11704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PFD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3-state flops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AND reset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981444" y="2340864"/>
            <a:ext cx="164592" cy="164592"/>
          </a:xfrm>
          <a:prstGeom prst="rightArrow">
            <a:avLst/>
          </a:prstGeom>
          <a:solidFill>
            <a:srgbClr val="5B6472"/>
          </a:solidFill>
          <a:ln/>
        </p:spPr>
      </p:sp>
      <p:sp>
        <p:nvSpPr>
          <p:cNvPr id="11" name="Shape 9"/>
          <p:cNvSpPr/>
          <p:nvPr/>
        </p:nvSpPr>
        <p:spPr>
          <a:xfrm>
            <a:off x="7178040" y="19659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C1752E"/>
          </a:solidFill>
          <a:ln w="12700">
            <a:solidFill>
              <a:srgbClr val="8A4E1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32904" y="2039112"/>
            <a:ext cx="11704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Pump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 ≈ 20 µA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490204" y="2340864"/>
            <a:ext cx="164592" cy="164592"/>
          </a:xfrm>
          <a:prstGeom prst="rightArrow">
            <a:avLst/>
          </a:prstGeom>
          <a:solidFill>
            <a:srgbClr val="5B6472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0" y="19659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C1752E"/>
          </a:solidFill>
          <a:ln w="12700">
            <a:solidFill>
              <a:srgbClr val="8A4E1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741664" y="2039112"/>
            <a:ext cx="11704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Filter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+ C1, shunt C2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998964" y="2340864"/>
            <a:ext cx="164592" cy="164592"/>
          </a:xfrm>
          <a:prstGeom prst="rightArrow">
            <a:avLst/>
          </a:prstGeom>
          <a:solidFill>
            <a:srgbClr val="5B647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195560" y="19659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C1752E"/>
          </a:solidFill>
          <a:ln w="28575">
            <a:solidFill>
              <a:srgbClr val="8A4E1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0250424" y="2039112"/>
            <a:ext cx="11704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VCO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current-starved ring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195560" y="3520440"/>
            <a:ext cx="128016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 w="12700">
            <a:solidFill>
              <a:srgbClr val="141A45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50424" y="3593592"/>
            <a:ext cx="11704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Divider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÷N (N = 1–5)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826496" y="2880360"/>
            <a:ext cx="18288" cy="64008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10908792" y="29077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÷8 prescaler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826496" y="4343400"/>
            <a:ext cx="18288" cy="292608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9360" y="4626864"/>
            <a:ext cx="4526280" cy="18288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headEnd type="triangle"/>
          </a:ln>
        </p:spPr>
      </p:sp>
      <p:sp>
        <p:nvSpPr>
          <p:cNvPr id="25" name="Shape 23"/>
          <p:cNvSpPr/>
          <p:nvPr/>
        </p:nvSpPr>
        <p:spPr>
          <a:xfrm>
            <a:off x="6300216" y="2880360"/>
            <a:ext cx="18288" cy="1755648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46908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÷N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69280" y="5074920"/>
            <a:ext cx="146304" cy="14630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70448" y="5029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(standard cells)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0" y="5074920"/>
            <a:ext cx="146304" cy="146304"/>
          </a:xfrm>
          <a:prstGeom prst="rect">
            <a:avLst/>
          </a:prstGeom>
          <a:solidFill>
            <a:srgbClr val="C175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22208" y="50292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(transistor-level)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23560" y="5486400"/>
            <a:ext cx="6080760" cy="658368"/>
          </a:xfrm>
          <a:prstGeom prst="roundRect">
            <a:avLst>
              <a:gd name="adj" fmla="val 13889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52160" y="5486400"/>
            <a:ext cx="5623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TT analog tile: 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Vctrl on ua[0], bias reference on ua[1]; digital blocks stay under the 50 MHz synth limit.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1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Locking Sequence and Key Targets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LOOP LOCKS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C175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77393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PFD compares the reference edge to the divided-feedback edge → UP / DN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852928"/>
            <a:ext cx="457200" cy="457200"/>
          </a:xfrm>
          <a:prstGeom prst="ellipse">
            <a:avLst/>
          </a:prstGeom>
          <a:solidFill>
            <a:srgbClr val="C175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798064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pump sources or sinks Icp into the loop filter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877056"/>
            <a:ext cx="457200" cy="457200"/>
          </a:xfrm>
          <a:prstGeom prst="ellipse">
            <a:avLst/>
          </a:prstGeom>
          <a:solidFill>
            <a:srgbClr val="C175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82219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Vctrl sets the current-starved ring VCO's frequency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901184"/>
            <a:ext cx="457200" cy="457200"/>
          </a:xfrm>
          <a:prstGeom prst="ellipse">
            <a:avLst/>
          </a:prstGeom>
          <a:solidFill>
            <a:srgbClr val="C175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8463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÷8 prescaler + ÷N divider close the loop — locks at fVCO = 8N · fref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137160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89320" y="1463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50–200 MHz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5989320" y="206654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VCO range (≈333 MHz fast-corner, est.)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61120" y="137160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98280" y="1463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8–40×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098280" y="206654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divide ratio PN (N = 1–5)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2834640"/>
          <a:ext cx="5852160" cy="310896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 VALUE (HAND ESTIMATE)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2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5–12.5 MHz  (nominal 6.25 × 16 = 100 MHz)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pump Icp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2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µA, trimmable on uio[1:0]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filter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2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≈ 22 kΩ, C1 ≈ 20 pF, C2 ≈ C1/10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margin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2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47° (est.) at PN = 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2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50 µs (est.)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1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DELIVERY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Verification Plan, Risks, and Schedule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1247120" cy="713232"/>
          </a:xfrm>
          <a:prstGeom prst="roundRect">
            <a:avLst>
              <a:gd name="adj" fmla="val 12821"/>
            </a:avLst>
          </a:prstGeom>
          <a:solidFill>
            <a:srgbClr val="F7E6D0"/>
          </a:solidFill>
          <a:ln w="12700">
            <a:solidFill>
              <a:srgbClr val="C175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9844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since the proposal: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ngspice corner sweep found phase margin marginal at one corner (44.7°); raising the loop-filter R1 to ≈26 kΩ restored 49.5°, and all corner design checks now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31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331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331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761488"/>
            <a:ext cx="2953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CocoTB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blocks + real-number loop model, mutation-tested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95935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959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3931920"/>
            <a:ext cx="2953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 corners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ngspice across tt/ff/ss, ±10% supply, −40 to 125°C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512978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5129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102352"/>
            <a:ext cx="2953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PFD, lock and divider property assertions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43400" y="278892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EEF3FC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07992" y="2862072"/>
            <a:ext cx="3191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margin shrinks at high PN (ζ 0.78→0.35 from PN 8→40) — mitigated with the Icp trim bits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59352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EEF3FC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07992" y="4032504"/>
            <a:ext cx="3191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Charge-pump UP/DN mismatch → spurs or static offset — mitigated by sizing + current trim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5129784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EEF3FC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07992" y="5202936"/>
            <a:ext cx="3191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02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pF filter cap is large for the tile — the R–C1 node can route to an off-chip C1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311896" y="2880360"/>
            <a:ext cx="18288" cy="2743200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2807208"/>
            <a:ext cx="182880" cy="182880"/>
          </a:xfrm>
          <a:prstGeom prst="ellipse">
            <a:avLst/>
          </a:prstGeom>
          <a:solidFill>
            <a:srgbClr val="C175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22208" y="2734056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2971800"/>
            <a:ext cx="3227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RTL + CocoTB green; first-pass pump/VCO schematics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0" y="3721608"/>
            <a:ext cx="182880" cy="182880"/>
          </a:xfrm>
          <a:prstGeom prst="ellipse">
            <a:avLst/>
          </a:prstGeom>
          <a:solidFill>
            <a:srgbClr val="C175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22208" y="3648456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522208" y="3886200"/>
            <a:ext cx="3227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ngspice corners; loop parameters fixed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4636008"/>
            <a:ext cx="182880" cy="182880"/>
          </a:xfrm>
          <a:prstGeom prst="ellipse">
            <a:avLst/>
          </a:prstGeom>
          <a:solidFill>
            <a:srgbClr val="C175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22208" y="4562856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522208" y="4800600"/>
            <a:ext cx="3227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DRC/LVS clean; precheck green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0" y="5550408"/>
            <a:ext cx="182880" cy="182880"/>
          </a:xfrm>
          <a:prstGeom prst="ellipse">
            <a:avLst/>
          </a:prstGeom>
          <a:solidFill>
            <a:srgbClr val="C175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22208" y="5477256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522208" y="5715000"/>
            <a:ext cx="3227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+ silicon measurement plan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2026-09-30T15:23:49Z</dcterms:created>
  <dcterms:modified xsi:type="dcterms:W3CDTF">2026-09-30T15:23:49Z</dcterms:modified>
</cp:coreProperties>
</file>