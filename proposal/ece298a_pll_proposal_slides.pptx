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C4221"/>
                </a:solidFill>
                <a:latin typeface="Georgia"/>
              </a:rPr>
              <a:t>ECE 298A TERM PROJECT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5140F"/>
                </a:solidFill>
                <a:latin typeface="Georgia"/>
              </a:rPr>
              <a:t>A charge-pump PLL on Tiny Tapeout GF180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1672" cy="0"/>
          </a:xfrm>
          <a:prstGeom prst="line">
            <a:avLst/>
          </a:prstGeom>
          <a:ln w="127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7716A"/>
                </a:solidFill>
                <a:latin typeface="Georgia"/>
              </a:rPr>
              <a:t>ECE 298A · Charge-pump PLL · Ihsan Salari, Dhyey Bhatt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7716A"/>
                </a:solidFill>
                <a:latin typeface="Georgia"/>
              </a:rPr>
              <a:t>1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Statement of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393192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Build a classic charge-pump phase-locked loop: a clock multiplier, the standard circuit every chip uses to make a fast clock from a slow one.</a:t>
            </a:r>
          </a:p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It multiplies a 5 to 12.5 MHz reference by 8N (N = 1 to 5) onto a 50 to 200 MHz on-chip oscillator.</a:t>
            </a:r>
          </a:p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Mixed-signal by design: the phase detector and dividers are standard-cell logic, and the charge pump, loop filter and VCO are transistor-level analog.</a:t>
            </a:r>
          </a:p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It exercises the whole open-source flow: RTL and CocoTB, ngspice across corners, layout with DRC and LVS.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508760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System diagram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Reference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clk pin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5 to 12.5 MHz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PFD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phase-frequency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detector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Charge pump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UP, DN in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Icp 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327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Loop filter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R + C1, shunt C2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Vctrl on ua[0]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24612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 w="12700">
            <a:solidFill>
              <a:srgbClr val="9C4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Lock detect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UP, DN width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uo_out[2]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324612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Divider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÷N, N = 1 to 5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uo_out[1]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20" y="324612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28575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VCO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starved ring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50 to 200 MHz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452628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Prescaler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÷8 toggle flops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uo_out[0]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400300"/>
            <a:ext cx="347472" cy="0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138160" y="2400300"/>
            <a:ext cx="347472" cy="0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66960" y="2400300"/>
            <a:ext cx="347472" cy="0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064240" y="2834639"/>
            <a:ext cx="0" cy="393193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37392" y="294436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740"/>
                </a:solidFill>
                <a:latin typeface="Georgia"/>
              </a:rPr>
              <a:t>Vctrl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064240" y="4114800"/>
            <a:ext cx="0" cy="393192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406640" y="2834639"/>
            <a:ext cx="0" cy="393193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235440" y="4960620"/>
            <a:ext cx="1097280" cy="0"/>
          </a:xfrm>
          <a:prstGeom prst="line">
            <a:avLst/>
          </a:prstGeom>
          <a:ln w="15875">
            <a:solidFill>
              <a:srgbClr val="777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235440" y="4133087"/>
            <a:ext cx="0" cy="827533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235440" y="3063239"/>
            <a:ext cx="0" cy="182881"/>
          </a:xfrm>
          <a:prstGeom prst="line">
            <a:avLst/>
          </a:prstGeom>
          <a:ln w="15875">
            <a:solidFill>
              <a:srgbClr val="777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7726679" y="3063239"/>
            <a:ext cx="1508761" cy="0"/>
          </a:xfrm>
          <a:prstGeom prst="line">
            <a:avLst/>
          </a:prstGeom>
          <a:ln w="15875">
            <a:solidFill>
              <a:srgbClr val="777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726679" y="2852927"/>
            <a:ext cx="0" cy="210312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818119" y="284378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740"/>
                </a:solidFill>
                <a:latin typeface="Georgia"/>
              </a:rPr>
              <a:t>feedback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5705856"/>
            <a:ext cx="164592" cy="164592"/>
          </a:xfrm>
          <a:prstGeom prst="rect">
            <a:avLst/>
          </a:prstGeom>
          <a:solidFill>
            <a:srgbClr val="F0EADE"/>
          </a:solidFill>
          <a:ln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4064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digital (standard cells)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5705856"/>
            <a:ext cx="164592" cy="164592"/>
          </a:xfrm>
          <a:prstGeom prst="rect">
            <a:avLst/>
          </a:prstGeom>
          <a:solidFill>
            <a:srgbClr val="ECEFEB"/>
          </a:solidFill>
          <a:ln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41464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analog (transistor level)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59" y="5705856"/>
            <a:ext cx="164592" cy="164592"/>
          </a:xfrm>
          <a:prstGeom prst="rect">
            <a:avLst/>
          </a:prstGeom>
          <a:solidFill>
            <a:srgbClr val="EAEDF1"/>
          </a:solidFill>
          <a:ln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0303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pin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21240" y="5705856"/>
            <a:ext cx="164592" cy="164592"/>
          </a:xfrm>
          <a:prstGeom prst="rect">
            <a:avLst/>
          </a:prstGeom>
          <a:solidFill>
            <a:srgbClr val="F3E8E4"/>
          </a:solidFill>
          <a:ln>
            <a:solidFill>
              <a:srgbClr val="9C4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58984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lock check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C4221"/>
                </a:solidFill>
                <a:latin typeface="Georgia"/>
              </a:rPr>
              <a:t>INTERFACE AND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5140F"/>
                </a:solidFill>
                <a:latin typeface="Georgia"/>
              </a:rPr>
              <a:t>Pin assignment and proposed specification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1672" cy="0"/>
          </a:xfrm>
          <a:prstGeom prst="line">
            <a:avLst/>
          </a:prstGeom>
          <a:ln w="127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7716A"/>
                </a:solidFill>
                <a:latin typeface="Georgia"/>
              </a:rPr>
              <a:t>ECE 298A · Charge-pump PLL · Ihsan Salari, Dhyey Bhatt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7716A"/>
                </a:solidFill>
                <a:latin typeface="Georgia"/>
              </a:rPr>
              <a:t>2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IO pin assignment (Tiny Tapeout analog tile)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5394960" cy="42428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685800"/>
                <a:gridCol w="3291840"/>
              </a:tblGrid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Pin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Dir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Use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clk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reference, 5 to 12.5 MHz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rst_n, ena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standard reset and enable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ui_in[2:0]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N, the divide ratio (1 to 5)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ui_in[5:3]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spare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ui_in[6]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PLL enable (powers down pump, VCO)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ui_in[7]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observe VCO ÷8 or ÷16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uo_out[0]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VCO ÷8 or ÷16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uo_out[1]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feedback divider output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uo_out[2]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lock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uo_out[4:3]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UP, DN (debug)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uo_out[7:5]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spare, driven low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uio[1:0]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charge-pump current trim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uio[7:2]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spare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ua[0]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analog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Vctrl, the loop-filter node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ua[1]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analog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bias reference (external resistor)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508760"/>
            <a:ext cx="5239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Proposed specification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20240"/>
          <a:ext cx="5239512" cy="36210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354787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Reference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5 to 12.5 MHz (nominal 6.25 MHz)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Multiplication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8N with N = 1 to 5, so 8× to 40×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Nominal output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6.25 MHz × 16 = 100 MHz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VCO range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50 to 200 MHz, typical corner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Prescaler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fixed ÷8, so all logic runs ≤ 50 MHz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Charge pump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Icp ≈ 20 µA, 2-bit trim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Loop filter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R ≈ 26 kΩ, C1 ≈ 20 pF, C2 ≈ C1/10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Phase margin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≥ 45° at N = 2 (8N = 16)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Lock time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under 50 µs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Observed output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VCO ÷8 or ÷16 on uo_out[0]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5669280"/>
            <a:ext cx="52395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740"/>
                </a:solidFill>
                <a:latin typeface="Georgia"/>
              </a:rPr>
              <a:t>First ngspice runs at the typical corner: Icp 19 µA, VCO 10 to 258 MHz, phase margin 49.5° at 8N = 16.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C4221"/>
                </a:solidFill>
                <a:latin typeface="Georgia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5140F"/>
                </a:solidFill>
                <a:latin typeface="Georgia"/>
              </a:rPr>
              <a:t>Timeline for completion and who does what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1672" cy="0"/>
          </a:xfrm>
          <a:prstGeom prst="line">
            <a:avLst/>
          </a:prstGeom>
          <a:ln w="127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7716A"/>
                </a:solidFill>
                <a:latin typeface="Georgia"/>
              </a:rPr>
              <a:t>ECE 298A · Charge-pump PLL · Ihsan Salari, Dhyey Bhatt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7716A"/>
                </a:solidFill>
                <a:latin typeface="Georgia"/>
              </a:rPr>
              <a:t>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5337406" y="1783080"/>
            <a:ext cx="466881" cy="2743200"/>
          </a:xfrm>
          <a:prstGeom prst="rect">
            <a:avLst/>
          </a:prstGeom>
          <a:solidFill>
            <a:srgbClr val="F0E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63086" y="4562856"/>
            <a:ext cx="101552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77716A"/>
                </a:solidFill>
                <a:latin typeface="Georgia"/>
              </a:rPr>
              <a:t>reading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6971493" y="1783080"/>
            <a:ext cx="583602" cy="2743200"/>
          </a:xfrm>
          <a:prstGeom prst="rect">
            <a:avLst/>
          </a:prstGeom>
          <a:solidFill>
            <a:srgbClr val="F0EA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7173" y="4562856"/>
            <a:ext cx="113224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1">
                <a:solidFill>
                  <a:srgbClr val="77716A"/>
                </a:solidFill>
                <a:latin typeface="Georgia"/>
              </a:rPr>
              <a:t>midterms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03320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739896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Sep 28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0363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56939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Oct 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37406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73982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Oct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54449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191025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Oct 19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71493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08069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Oct 26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88536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825112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05579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42155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9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422623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459199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16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239666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276242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23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056709" y="1737360"/>
            <a:ext cx="0" cy="278892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093285" y="1508760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7716A"/>
                </a:solidFill>
                <a:latin typeface="Georgia"/>
              </a:rPr>
              <a:t>Nov 30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1783080"/>
            <a:ext cx="11091672" cy="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17830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PFD RTL and CocoTB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53481" y="1847088"/>
            <a:ext cx="1750807" cy="146303"/>
          </a:xfrm>
          <a:prstGeom prst="roundRect">
            <a:avLst>
              <a:gd name="adj" fmla="val 30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Prescaler, divider, lock detector RTL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53481" y="2121408"/>
            <a:ext cx="1750807" cy="146303"/>
          </a:xfrm>
          <a:prstGeom prst="roundRect">
            <a:avLst>
              <a:gd name="adj" fmla="val 30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23317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Loop model and loop CocoTB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20363" y="2395727"/>
            <a:ext cx="1283925" cy="146303"/>
          </a:xfrm>
          <a:prstGeom prst="roundRect">
            <a:avLst>
              <a:gd name="adj" fmla="val 30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260603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Charge pump and loop filter in ngspice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20363" y="2670047"/>
            <a:ext cx="3618334" cy="146303"/>
          </a:xfrm>
          <a:prstGeom prst="roundRect">
            <a:avLst>
              <a:gd name="adj" fmla="val 30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VCO in ngspice, all corners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20363" y="2944368"/>
            <a:ext cx="3618334" cy="146303"/>
          </a:xfrm>
          <a:prstGeom prst="roundRect">
            <a:avLst>
              <a:gd name="adj" fmla="val 30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31546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Full loop locks in simulation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71493" y="3218688"/>
            <a:ext cx="1167204" cy="146303"/>
          </a:xfrm>
          <a:prstGeom prst="roundRect">
            <a:avLst>
              <a:gd name="adj" fmla="val 30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4290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PFD, pump and filter layout, DRC, LVS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88536" y="3493008"/>
            <a:ext cx="2100968" cy="146303"/>
          </a:xfrm>
          <a:prstGeom prst="roundRect">
            <a:avLst>
              <a:gd name="adj" fmla="val 30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7033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VCO, prescaler, divider layout, DRC, LVS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88536" y="3767328"/>
            <a:ext cx="2100968" cy="146303"/>
          </a:xfrm>
          <a:prstGeom prst="roundRect">
            <a:avLst>
              <a:gd name="adj" fmla="val 30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397763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Tile integration, post-layout sim, precheck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22623" y="4041648"/>
            <a:ext cx="1167204" cy="146303"/>
          </a:xfrm>
          <a:prstGeom prst="roundRect">
            <a:avLst>
              <a:gd name="adj" fmla="val 30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425195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Documentation and silicon test plan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39666" y="4315968"/>
            <a:ext cx="1167204" cy="146303"/>
          </a:xfrm>
          <a:prstGeom prst="roundRect">
            <a:avLst>
              <a:gd name="adj" fmla="val 30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804288" y="1737360"/>
            <a:ext cx="0" cy="2788920"/>
          </a:xfrm>
          <a:prstGeom prst="line">
            <a:avLst/>
          </a:prstGeom>
          <a:ln w="15875">
            <a:solidFill>
              <a:srgbClr val="9C42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Diamond 53"/>
          <p:cNvSpPr/>
          <p:nvPr/>
        </p:nvSpPr>
        <p:spPr>
          <a:xfrm>
            <a:off x="5731136" y="4773168"/>
            <a:ext cx="146304" cy="146304"/>
          </a:xfrm>
          <a:prstGeom prst="diamond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8138697" y="1737360"/>
            <a:ext cx="0" cy="2788920"/>
          </a:xfrm>
          <a:prstGeom prst="line">
            <a:avLst/>
          </a:prstGeom>
          <a:ln w="15875">
            <a:solidFill>
              <a:srgbClr val="9C42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Diamond 55"/>
          <p:cNvSpPr/>
          <p:nvPr/>
        </p:nvSpPr>
        <p:spPr>
          <a:xfrm>
            <a:off x="8065545" y="4773168"/>
            <a:ext cx="146304" cy="146304"/>
          </a:xfrm>
          <a:prstGeom prst="diamond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589827" y="1737360"/>
            <a:ext cx="0" cy="2788920"/>
          </a:xfrm>
          <a:prstGeom prst="line">
            <a:avLst/>
          </a:prstGeom>
          <a:ln w="15875">
            <a:solidFill>
              <a:srgbClr val="9C42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Diamond 57"/>
          <p:cNvSpPr/>
          <p:nvPr/>
        </p:nvSpPr>
        <p:spPr>
          <a:xfrm>
            <a:off x="10516675" y="4773168"/>
            <a:ext cx="146304" cy="146304"/>
          </a:xfrm>
          <a:prstGeom prst="diamond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1406871" y="1737360"/>
            <a:ext cx="0" cy="2788920"/>
          </a:xfrm>
          <a:prstGeom prst="line">
            <a:avLst/>
          </a:prstGeom>
          <a:ln w="15875">
            <a:solidFill>
              <a:srgbClr val="9C42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Diamond 59"/>
          <p:cNvSpPr/>
          <p:nvPr/>
        </p:nvSpPr>
        <p:spPr>
          <a:xfrm>
            <a:off x="11333719" y="4773168"/>
            <a:ext cx="146304" cy="146304"/>
          </a:xfrm>
          <a:prstGeom prst="diamond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4745736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C4221"/>
                </a:solidFill>
                <a:latin typeface="Georgia"/>
              </a:rPr>
              <a:t>Course deadlines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47088" y="49377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C4221"/>
                </a:solidFill>
                <a:latin typeface="Georgia"/>
              </a:rPr>
              <a:t>Oct 16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81497" y="49377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C4221"/>
                </a:solidFill>
                <a:latin typeface="Georgia"/>
              </a:rPr>
              <a:t>Nov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32627" y="49377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C4221"/>
                </a:solidFill>
                <a:latin typeface="Georgia"/>
              </a:rPr>
              <a:t>Nov 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49671" y="49377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9C4221"/>
                </a:solidFill>
                <a:latin typeface="Georgia"/>
              </a:rPr>
              <a:t>Dec 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8640" y="5376672"/>
            <a:ext cx="3575304" cy="841248"/>
          </a:xfrm>
          <a:prstGeom prst="roundRect">
            <a:avLst>
              <a:gd name="adj" fmla="val 8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5468112"/>
            <a:ext cx="3300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5140F"/>
                </a:solidFill>
                <a:latin typeface="Georgia"/>
              </a:rPr>
              <a:t>Ihsan Salari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5760720"/>
            <a:ext cx="3300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Detect and filter: PFD, charge pump, loop filter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306824" y="5376672"/>
            <a:ext cx="3575304" cy="841248"/>
          </a:xfrm>
          <a:prstGeom prst="roundRect">
            <a:avLst>
              <a:gd name="adj" fmla="val 8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443984" y="5468112"/>
            <a:ext cx="3300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5140F"/>
                </a:solidFill>
                <a:latin typeface="Georgia"/>
              </a:rPr>
              <a:t>Dhyey Bhatt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43984" y="5760720"/>
            <a:ext cx="3300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Oscillate and divide: VCO, prescaler, divider, lock detector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065008" y="5376672"/>
            <a:ext cx="3575304" cy="841248"/>
          </a:xfrm>
          <a:prstGeom prst="roundRect">
            <a:avLst>
              <a:gd name="adj" fmla="val 8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02168" y="5468112"/>
            <a:ext cx="3300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5140F"/>
                </a:solidFill>
                <a:latin typeface="Georgia"/>
              </a:rPr>
              <a:t>Both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02168" y="5760720"/>
            <a:ext cx="33009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5140F"/>
                </a:solidFill>
                <a:latin typeface="Georgia"/>
              </a:rPr>
              <a:t>Loop model, integration, full-loop simulation, docs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