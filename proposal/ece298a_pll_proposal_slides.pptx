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C4221"/>
                </a:solidFill>
                <a:latin typeface="Georgia"/>
              </a:rPr>
              <a:t>ECE 298A TERM 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5140F"/>
                </a:solidFill>
                <a:latin typeface="Georgia"/>
              </a:rPr>
              <a:t>A charge-pump PLL on Tiny Tapeout GF180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12700">
            <a:solidFill>
              <a:srgbClr val="DED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16A"/>
                </a:solidFill>
                <a:latin typeface="Georgia"/>
              </a:rPr>
              <a:t>ECE 298A · Charge-pump PLL · Ihsan Salari, Dhyey Bhatt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7716A"/>
                </a:solidFill>
                <a:latin typeface="Georgia"/>
              </a:rP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3931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140F"/>
                </a:solidFill>
                <a:latin typeface="Georgia"/>
              </a:rPr>
              <a:t>Statement of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393192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Aft>
                <a:spcPts val="900"/>
              </a:spcAft>
              <a:buClr>
                <a:srgbClr val="9C4221"/>
              </a:buClr>
              <a:buFont typeface="Arial"/>
              <a:buChar char="•"/>
            </a:pPr>
            <a:r>
              <a:rPr sz="1400" b="0" i="0">
                <a:solidFill>
                  <a:srgbClr val="15140F"/>
                </a:solidFill>
                <a:latin typeface="Georgia"/>
              </a:rPr>
              <a:t>Build a classic charge-pump phase-locked loop: a clock multiplier, the standard circuit every chip uses to make a fast clock from a slow one.</a:t>
            </a:r>
          </a:p>
          <a:p>
            <a:pPr algn="l" marL="228600" indent="-228600">
              <a:spcAft>
                <a:spcPts val="900"/>
              </a:spcAft>
              <a:buClr>
                <a:srgbClr val="9C4221"/>
              </a:buClr>
              <a:buFont typeface="Arial"/>
              <a:buChar char="•"/>
            </a:pPr>
            <a:r>
              <a:rPr sz="1400" b="0" i="0">
                <a:solidFill>
                  <a:srgbClr val="15140F"/>
                </a:solidFill>
                <a:latin typeface="Georgia"/>
              </a:rPr>
              <a:t>It multiplies a 5 to 12.5 MHz reference by 8N (N = 1 to 5) onto a 50 to 200 MHz on-chip oscillator.</a:t>
            </a:r>
          </a:p>
          <a:p>
            <a:pPr algn="l" marL="228600" indent="-228600">
              <a:spcAft>
                <a:spcPts val="900"/>
              </a:spcAft>
              <a:buClr>
                <a:srgbClr val="9C4221"/>
              </a:buClr>
              <a:buFont typeface="Arial"/>
              <a:buChar char="•"/>
            </a:pPr>
            <a:r>
              <a:rPr sz="1400" b="0" i="0">
                <a:solidFill>
                  <a:srgbClr val="15140F"/>
                </a:solidFill>
                <a:latin typeface="Georgia"/>
              </a:rPr>
              <a:t>Mixed-signal by design: the phase detector and dividers are standard-cell logic, and the charge pump, loop filter and VCO are transistor-level analog.</a:t>
            </a:r>
          </a:p>
          <a:p>
            <a:pPr algn="l" marL="228600" indent="-228600">
              <a:spcAft>
                <a:spcPts val="900"/>
              </a:spcAft>
              <a:buClr>
                <a:srgbClr val="9C4221"/>
              </a:buClr>
              <a:buFont typeface="Arial"/>
              <a:buChar char="•"/>
            </a:pPr>
            <a:r>
              <a:rPr sz="1400" b="0" i="0">
                <a:solidFill>
                  <a:srgbClr val="15140F"/>
                </a:solidFill>
                <a:latin typeface="Georgia"/>
              </a:rPr>
              <a:t>It exercises the whole open-source flow: RTL and CocoTB, ngspice across corners, layout with DRC and LVS.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508760"/>
            <a:ext cx="6949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140F"/>
                </a:solidFill>
                <a:latin typeface="Georgia"/>
              </a:rPr>
              <a:t>System diagram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96596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EAEDF1"/>
          </a:solidFill>
          <a:ln w="12700">
            <a:solidFill>
              <a:srgbClr val="4F6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Reference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clk pin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5 to 12.5 MHz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96596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F0EADE"/>
          </a:solidFill>
          <a:ln w="12700">
            <a:solidFill>
              <a:srgbClr val="777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PFD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phase-frequency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detector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96596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ECEFEB"/>
          </a:solidFill>
          <a:ln w="12700">
            <a:solidFill>
              <a:srgbClr val="5E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Charge pump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UP, DN in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Icp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0" y="196596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ECEFEB"/>
          </a:solidFill>
          <a:ln w="12700">
            <a:solidFill>
              <a:srgbClr val="5E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Loop filter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R + C1, shunt C2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Vctrl on ua[0]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24612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F3E8E4"/>
          </a:solidFill>
          <a:ln w="12700">
            <a:solidFill>
              <a:srgbClr val="9C4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Lock detect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UP, DN width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uo_out[2]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24612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F0EADE"/>
          </a:solidFill>
          <a:ln w="12700">
            <a:solidFill>
              <a:srgbClr val="777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Divider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÷N, N = 1 to 5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uo_out[1]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32720" y="324612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ECEFEB"/>
          </a:solidFill>
          <a:ln w="28575">
            <a:solidFill>
              <a:srgbClr val="5E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VCO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starved ring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50 to 200 MHz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4526280"/>
            <a:ext cx="1463040" cy="868680"/>
          </a:xfrm>
          <a:prstGeom prst="roundRect">
            <a:avLst>
              <a:gd name="adj" fmla="val 6000"/>
            </a:avLst>
          </a:prstGeom>
          <a:solidFill>
            <a:srgbClr val="F0EADE"/>
          </a:solidFill>
          <a:ln w="12700">
            <a:solidFill>
              <a:srgbClr val="777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15140F"/>
                </a:solidFill>
                <a:latin typeface="Georgia"/>
              </a:rPr>
              <a:t>Prescaler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÷8 toggle flops</a:t>
            </a:r>
          </a:p>
          <a:p>
            <a:pPr algn="ctr"/>
            <a:r>
              <a:rPr sz="1100" b="0">
                <a:solidFill>
                  <a:srgbClr val="4A4740"/>
                </a:solidFill>
                <a:latin typeface="Georgia"/>
              </a:rPr>
              <a:t>uo_out[0]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09360" y="2400300"/>
            <a:ext cx="347472" cy="0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38160" y="2400300"/>
            <a:ext cx="347472" cy="0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966960" y="2400300"/>
            <a:ext cx="347472" cy="0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064240" y="2834639"/>
            <a:ext cx="0" cy="393193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137392" y="2944368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740"/>
                </a:solidFill>
                <a:latin typeface="Georgia"/>
              </a:rPr>
              <a:t>Vctrl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064240" y="4114800"/>
            <a:ext cx="0" cy="393192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406640" y="2834639"/>
            <a:ext cx="0" cy="393193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9235440" y="4960620"/>
            <a:ext cx="1097280" cy="0"/>
          </a:xfrm>
          <a:prstGeom prst="line">
            <a:avLst/>
          </a:prstGeom>
          <a:ln w="15875">
            <a:solidFill>
              <a:srgbClr val="777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235440" y="4133087"/>
            <a:ext cx="0" cy="827533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235440" y="3063239"/>
            <a:ext cx="0" cy="182881"/>
          </a:xfrm>
          <a:prstGeom prst="line">
            <a:avLst/>
          </a:prstGeom>
          <a:ln w="15875">
            <a:solidFill>
              <a:srgbClr val="777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7726679" y="3063239"/>
            <a:ext cx="1508761" cy="0"/>
          </a:xfrm>
          <a:prstGeom prst="line">
            <a:avLst/>
          </a:prstGeom>
          <a:ln w="15875">
            <a:solidFill>
              <a:srgbClr val="7771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726679" y="2852927"/>
            <a:ext cx="0" cy="210312"/>
          </a:xfrm>
          <a:prstGeom prst="line">
            <a:avLst/>
          </a:prstGeom>
          <a:ln w="15875">
            <a:solidFill>
              <a:srgbClr val="77716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818119" y="284378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740"/>
                </a:solidFill>
                <a:latin typeface="Georgia"/>
              </a:rPr>
              <a:t>feedback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5705856"/>
            <a:ext cx="164592" cy="164592"/>
          </a:xfrm>
          <a:prstGeom prst="rect">
            <a:avLst/>
          </a:prstGeom>
          <a:solidFill>
            <a:srgbClr val="F0EADE"/>
          </a:solidFill>
          <a:ln>
            <a:solidFill>
              <a:srgbClr val="777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4064" y="5669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740"/>
                </a:solidFill>
                <a:latin typeface="Georgia"/>
              </a:rPr>
              <a:t>digital (standard cells)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5705856"/>
            <a:ext cx="164592" cy="164592"/>
          </a:xfrm>
          <a:prstGeom prst="rect">
            <a:avLst/>
          </a:prstGeom>
          <a:solidFill>
            <a:srgbClr val="ECEFEB"/>
          </a:solidFill>
          <a:ln>
            <a:solidFill>
              <a:srgbClr val="5E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41464" y="5669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740"/>
                </a:solidFill>
                <a:latin typeface="Georgia"/>
              </a:rPr>
              <a:t>analog (transistor level)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52559" y="5705856"/>
            <a:ext cx="164592" cy="164592"/>
          </a:xfrm>
          <a:prstGeom prst="rect">
            <a:avLst/>
          </a:prstGeom>
          <a:solidFill>
            <a:srgbClr val="EAEDF1"/>
          </a:solidFill>
          <a:ln>
            <a:solidFill>
              <a:srgbClr val="4F6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90303" y="5669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740"/>
                </a:solidFill>
                <a:latin typeface="Georgia"/>
              </a:rPr>
              <a:t>pin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21240" y="5705856"/>
            <a:ext cx="164592" cy="164592"/>
          </a:xfrm>
          <a:prstGeom prst="rect">
            <a:avLst/>
          </a:prstGeom>
          <a:solidFill>
            <a:srgbClr val="F3E8E4"/>
          </a:solidFill>
          <a:ln>
            <a:solidFill>
              <a:srgbClr val="9C42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58984" y="56692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4740"/>
                </a:solidFill>
                <a:latin typeface="Georgia"/>
              </a:rPr>
              <a:t>lock check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C4221"/>
                </a:solidFill>
                <a:latin typeface="Georgia"/>
              </a:rPr>
              <a:t>INTERFACE AND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5140F"/>
                </a:solidFill>
                <a:latin typeface="Georgia"/>
              </a:rPr>
              <a:t>Pin assignment and proposed specification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12700">
            <a:solidFill>
              <a:srgbClr val="DED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16A"/>
                </a:solidFill>
                <a:latin typeface="Georgia"/>
              </a:rPr>
              <a:t>ECE 298A · Charge-pump PLL · Ihsan Salari, Dhyey Bhatt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7716A"/>
                </a:solidFill>
                <a:latin typeface="Georgia"/>
              </a:rPr>
              <a:t>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394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140F"/>
                </a:solidFill>
                <a:latin typeface="Georgia"/>
              </a:rPr>
              <a:t>IO pin assignment (Tiny Tapeout analog tile)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5394960" cy="42428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685800"/>
                <a:gridCol w="3291840"/>
              </a:tblGrid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Pin</a:t>
                      </a:r>
                    </a:p>
                  </a:txBody>
                  <a:tcPr marL="73152" marR="73152" marT="27432" marB="27432" anchor="ctr">
                    <a:solidFill>
                      <a:srgbClr val="4F6D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Dir</a:t>
                      </a:r>
                    </a:p>
                  </a:txBody>
                  <a:tcPr marL="73152" marR="73152" marT="27432" marB="27432" anchor="ctr">
                    <a:solidFill>
                      <a:srgbClr val="4F6D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Use</a:t>
                      </a:r>
                    </a:p>
                  </a:txBody>
                  <a:tcPr marL="73152" marR="73152" marT="27432" marB="27432" anchor="ctr">
                    <a:solidFill>
                      <a:srgbClr val="4F6D8A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clk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reference, 5 to 12.5 MHz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rst_n, ena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standard reset and enable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ui_in[2:0]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N, the divide ratio (1 to 5)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ui_in[5:3]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spare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ui_in[6]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PLL enable (powers down pump, VCO)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ui_in[7]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observe VCO ÷8 or ÷16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uo_out[0]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out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VCO ÷8 or ÷16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uo_out[1]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out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feedback divider output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uo_out[2]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out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lock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uo_out[4:3]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out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UP, DN (debug)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uo_out[7:5]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out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spare, driven low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uio[1:0]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charge-pump current trim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uio[7:2]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in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spare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ua[0]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analog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Vctrl, the loop-filter node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ua[1]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analog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bias reference (external resistor)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508760"/>
            <a:ext cx="5239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140F"/>
                </a:solidFill>
                <a:latin typeface="Georgia"/>
              </a:rPr>
              <a:t>Proposed specification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1920240"/>
          <a:ext cx="523951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91640"/>
                <a:gridCol w="354787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Parameter</a:t>
                      </a:r>
                    </a:p>
                  </a:txBody>
                  <a:tcPr marL="73152" marR="73152" marT="27432" marB="27432" anchor="ctr">
                    <a:solidFill>
                      <a:srgbClr val="4F6D8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Target</a:t>
                      </a:r>
                    </a:p>
                  </a:txBody>
                  <a:tcPr marL="73152" marR="73152" marT="27432" marB="27432" anchor="ctr">
                    <a:solidFill>
                      <a:srgbClr val="4F6D8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Reference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5 to 12.5 MHz (nominal 6.25 MHz)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Multiplication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8N with N = 1 to 5, so 8× to 40×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Nominal output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6.25 MHz × 16 = 100 MHz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VCO range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50 to 200 MHz, typical corner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Prescaler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fixed ÷8, so all logic runs ≤ 50 MHz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Charge pump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Icp ≈ 20 µA, 2-bit trim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Loop filter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R ≈ 26 kΩ, C1 ≈ 20 pF, C2 ≈ C1/10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Phase margin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≥ 45° at N = 2 (8N = 16)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Lock time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under 50 µs</a:t>
                      </a:r>
                    </a:p>
                  </a:txBody>
                  <a:tcPr marL="73152" marR="73152" marT="27432" marB="27432" anchor="ctr">
                    <a:solidFill>
                      <a:srgbClr val="FAF8F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5140F"/>
                          </a:solidFill>
                          <a:latin typeface="Georgia"/>
                        </a:rPr>
                        <a:t>Observed output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5140F"/>
                          </a:solidFill>
                          <a:latin typeface="Georgia"/>
                        </a:rPr>
                        <a:t>VCO ÷8 or ÷16 on uo_out[0]</a:t>
                      </a:r>
                    </a:p>
                  </a:txBody>
                  <a:tcPr marL="73152" marR="73152" marT="27432" marB="27432" anchor="ctr">
                    <a:solidFill>
                      <a:srgbClr val="F0EAD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0" y="5669280"/>
            <a:ext cx="523951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4740"/>
                </a:solidFill>
                <a:latin typeface="Georgia"/>
              </a:rPr>
              <a:t>First ngspice runs at the typical corner: Icp 19 µA, VCO 10 to 258 MHz, phase margin 49.5° at 8N = 16.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9C4221"/>
                </a:solidFill>
                <a:latin typeface="Georgia"/>
              </a:rPr>
              <a:t>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5140F"/>
                </a:solidFill>
                <a:latin typeface="Georgia"/>
              </a:rPr>
              <a:t>Timeline for completion and who does what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243584"/>
            <a:ext cx="11091672" cy="0"/>
          </a:xfrm>
          <a:prstGeom prst="line">
            <a:avLst/>
          </a:prstGeom>
          <a:ln w="12700">
            <a:solidFill>
              <a:srgbClr val="DED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1908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77716A"/>
                </a:solidFill>
                <a:latin typeface="Georgia"/>
              </a:rPr>
              <a:t>ECE 298A · Charge-pump PLL · Ihsan Salari, Dhyey Bhatt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77716A"/>
                </a:solidFill>
                <a:latin typeface="Georgia"/>
              </a:rP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140F"/>
                </a:solidFill>
                <a:latin typeface="Georgia"/>
              </a:rPr>
              <a:t>Timeline for completion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8096" y="2148840"/>
            <a:ext cx="0" cy="2880360"/>
          </a:xfrm>
          <a:prstGeom prst="line">
            <a:avLst/>
          </a:prstGeom>
          <a:ln w="25400">
            <a:solidFill>
              <a:srgbClr val="DED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685800" y="2066543"/>
            <a:ext cx="164592" cy="164592"/>
          </a:xfrm>
          <a:prstGeom prst="ellipse">
            <a:avLst/>
          </a:prstGeom>
          <a:solidFill>
            <a:srgbClr val="9C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2082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C4221"/>
                </a:solidFill>
                <a:latin typeface="Georgia"/>
              </a:rPr>
              <a:t>Oct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29968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5140F"/>
                </a:solidFill>
                <a:latin typeface="Georgia"/>
              </a:rPr>
              <a:t>Digital RTL (PFD, prescaler, divider, lock detector) and a loop model, CocoTB passing; first pump and VCO schematics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26663"/>
            <a:ext cx="164592" cy="164592"/>
          </a:xfrm>
          <a:prstGeom prst="ellipse">
            <a:avLst/>
          </a:prstGeom>
          <a:solidFill>
            <a:srgbClr val="9C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8094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C4221"/>
                </a:solidFill>
                <a:latin typeface="Georgia"/>
              </a:rPr>
              <a:t>Nov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90088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5140F"/>
                </a:solidFill>
                <a:latin typeface="Georgia"/>
              </a:rPr>
              <a:t>Evaluation: pump, filter and VCO across ngspice corners; the full loop locks in simulation; loop values fixed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986783"/>
            <a:ext cx="164592" cy="164592"/>
          </a:xfrm>
          <a:prstGeom prst="ellipse">
            <a:avLst/>
          </a:prstGeom>
          <a:solidFill>
            <a:srgbClr val="9C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41063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C4221"/>
                </a:solidFill>
                <a:latin typeface="Georgia"/>
              </a:rPr>
              <a:t>Nov 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50207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5140F"/>
                </a:solidFill>
                <a:latin typeface="Georgia"/>
              </a:rPr>
              <a:t>System verification: layout DRC and LVS clean, post-layout re-simulation, Tiny Tapeout precheck green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946904"/>
            <a:ext cx="164592" cy="164592"/>
          </a:xfrm>
          <a:prstGeom prst="ellipse">
            <a:avLst/>
          </a:prstGeom>
          <a:solidFill>
            <a:srgbClr val="9C42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90118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9C4221"/>
                </a:solidFill>
                <a:latin typeface="Georgia"/>
              </a:rPr>
              <a:t>Dec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4910328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15140F"/>
                </a:solidFill>
                <a:latin typeface="Georgia"/>
              </a:rPr>
              <a:t>Documentation and a silicon test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2395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5140F"/>
                </a:solidFill>
                <a:latin typeface="Georgia"/>
              </a:rPr>
              <a:t>Who does what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239512" cy="1207007"/>
          </a:xfrm>
          <a:prstGeom prst="roundRect">
            <a:avLst>
              <a:gd name="adj" fmla="val 6000"/>
            </a:avLst>
          </a:prstGeom>
          <a:solidFill>
            <a:srgbClr val="ECEFEB"/>
          </a:solidFill>
          <a:ln w="12700">
            <a:solidFill>
              <a:srgbClr val="5E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140F"/>
                </a:solidFill>
                <a:latin typeface="Georgia"/>
              </a:rPr>
              <a:t>Ihsan Salari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02996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5E7A5A"/>
                </a:solidFill>
                <a:latin typeface="Georgia"/>
              </a:rPr>
              <a:t>ANALOG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304288"/>
            <a:ext cx="489204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Clr>
                <a:srgbClr val="5E7A5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Charge pump, loop filter and VCO</a:t>
            </a:r>
          </a:p>
          <a:p>
            <a:pPr algn="l" marL="228600" indent="-228600">
              <a:buClr>
                <a:srgbClr val="5E7A5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ngspice corner sweeps</a:t>
            </a:r>
          </a:p>
          <a:p>
            <a:pPr algn="l" marL="228600" indent="-228600">
              <a:buClr>
                <a:srgbClr val="5E7A5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Analog layout, DRC and LVS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310128"/>
            <a:ext cx="5239512" cy="1207007"/>
          </a:xfrm>
          <a:prstGeom prst="roundRect">
            <a:avLst>
              <a:gd name="adj" fmla="val 6000"/>
            </a:avLst>
          </a:prstGeom>
          <a:solidFill>
            <a:srgbClr val="F0EADE"/>
          </a:solidFill>
          <a:ln w="12700">
            <a:solidFill>
              <a:srgbClr val="7771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40156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140F"/>
                </a:solidFill>
                <a:latin typeface="Georgia"/>
              </a:rPr>
              <a:t>Dhyey Bhatt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41985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77716A"/>
                </a:solidFill>
                <a:latin typeface="Georgia"/>
              </a:rPr>
              <a:t>DIGITAL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94176"/>
            <a:ext cx="4892040" cy="822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Clr>
                <a:srgbClr val="77716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PFD, prescaler, divider, lock detector</a:t>
            </a:r>
          </a:p>
          <a:p>
            <a:pPr algn="l" marL="228600" indent="-228600">
              <a:buClr>
                <a:srgbClr val="77716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CocoTB testbench and loop model</a:t>
            </a:r>
          </a:p>
          <a:p>
            <a:pPr algn="l" marL="228600" indent="-228600">
              <a:buClr>
                <a:srgbClr val="77716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Synthesis and timing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700016"/>
            <a:ext cx="5239512" cy="932688"/>
          </a:xfrm>
          <a:prstGeom prst="roundRect">
            <a:avLst>
              <a:gd name="adj" fmla="val 6000"/>
            </a:avLst>
          </a:prstGeom>
          <a:solidFill>
            <a:srgbClr val="EAEDF1"/>
          </a:solidFill>
          <a:ln w="12700">
            <a:solidFill>
              <a:srgbClr val="4F6D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4791455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5140F"/>
                </a:solidFill>
                <a:latin typeface="Georgia"/>
              </a:rPr>
              <a:t>Both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80974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1" i="0">
                <a:solidFill>
                  <a:srgbClr val="4F6D8A"/>
                </a:solidFill>
                <a:latin typeface="Georgia"/>
              </a:rPr>
              <a:t>TOGETHER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084064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buClr>
                <a:srgbClr val="4F6D8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Top-level integration and full-loop simulation</a:t>
            </a:r>
          </a:p>
          <a:p>
            <a:pPr algn="l" marL="228600" indent="-228600">
              <a:buClr>
                <a:srgbClr val="4F6D8A"/>
              </a:buClr>
              <a:buFont typeface="Arial"/>
              <a:buChar char="•"/>
            </a:pPr>
            <a:r>
              <a:rPr sz="1200" b="0" i="0">
                <a:solidFill>
                  <a:srgbClr val="15140F"/>
                </a:solidFill>
                <a:latin typeface="Georgia"/>
              </a:rPr>
              <a:t>Documentation, GitHub and presentations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